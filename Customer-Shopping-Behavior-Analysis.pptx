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Instrument Sans Bold" panose="020B0604020202020204" charset="0"/>
      <p:regular r:id="rId12"/>
    </p:embeddedFont>
    <p:embeddedFont>
      <p:font typeface="Instrument Sans Medium" panose="020B0604020202020204" charset="0"/>
      <p:regular r:id="rId13"/>
    </p:embeddedFont>
    <p:embeddedFont>
      <p:font typeface="Inter Tight" pitchFamily="2" charset="0"/>
      <p:regular r:id="rId14"/>
      <p:bold r:id="rId15"/>
      <p:italic r:id="rId16"/>
      <p:boldItalic r:id="rId17"/>
    </p:embeddedFont>
    <p:embeddedFont>
      <p:font typeface="Inter Tight Light" pitchFamily="2" charset="0"/>
      <p:regular r:id="rId18"/>
      <p:italic r:id="rId19"/>
    </p:embeddedFont>
    <p:embeddedFont>
      <p:font typeface="Inter Tight SemiBold" pitchFamily="2" charset="0"/>
      <p:regular r:id="rId20"/>
      <p:bold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89B6"/>
    <a:srgbClr val="FBFDFD"/>
    <a:srgbClr val="B0C7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1655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1010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4" y="516880"/>
            <a:ext cx="10868745" cy="2067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0" kern="0" spc="-130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Customer Shopping</a:t>
            </a:r>
            <a:endParaRPr lang="en-US" sz="65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6500" kern="0" spc="-130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Behavior Analysis</a:t>
            </a:r>
            <a:endParaRPr lang="en-US" sz="6500" dirty="0"/>
          </a:p>
        </p:txBody>
      </p:sp>
      <p:sp>
        <p:nvSpPr>
          <p:cNvPr id="4" name="Text 1"/>
          <p:cNvSpPr/>
          <p:nvPr/>
        </p:nvSpPr>
        <p:spPr>
          <a:xfrm>
            <a:off x="661474" y="400437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b="1" kern="0" spc="-39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Uncovering insights from 3,900 purchases to guide strategic business decisions</a:t>
            </a:r>
            <a:endParaRPr 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0113"/>
            <a:ext cx="4571886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12073" y="2934965"/>
            <a:ext cx="1114893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1400" b="1" dirty="0"/>
          </a:p>
        </p:txBody>
      </p:sp>
      <p:sp>
        <p:nvSpPr>
          <p:cNvPr id="5" name="Text 2"/>
          <p:cNvSpPr/>
          <p:nvPr/>
        </p:nvSpPr>
        <p:spPr>
          <a:xfrm>
            <a:off x="966580" y="3254871"/>
            <a:ext cx="6296860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49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233360" y="544017"/>
            <a:ext cx="62968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kern="0" spc="-24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DatasetScale</a:t>
            </a:r>
            <a:endParaRPr lang="en-US" b="1" dirty="0"/>
          </a:p>
        </p:txBody>
      </p:sp>
      <p:sp>
        <p:nvSpPr>
          <p:cNvPr id="8" name="Text 5"/>
          <p:cNvSpPr/>
          <p:nvPr/>
        </p:nvSpPr>
        <p:spPr>
          <a:xfrm>
            <a:off x="5233360" y="990749"/>
            <a:ext cx="629686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0" spc="-29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analysis is based on comprehensive transaction data spanning 3,900 purchases, covering 18 data columns across customer demographics and behavior patterns, with only 37 missing values — all located in the Review Rating column.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33360" y="2301974"/>
            <a:ext cx="62968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4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Key Dataset Attributes</a:t>
            </a:r>
            <a:endParaRPr lang="en-US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654647"/>
            <a:ext cx="6296860" cy="74424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1036" y="2914253"/>
            <a:ext cx="186031" cy="1860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35105" y="2942109"/>
            <a:ext cx="555839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kern="0" spc="-29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3,900 total purchases across all customer segments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72458"/>
            <a:ext cx="6296860" cy="74424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1036" y="3751461"/>
            <a:ext cx="186031" cy="18603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835106" y="3771999"/>
            <a:ext cx="555839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kern="0" spc="-29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18 data columns covering demographics and behavior</a:t>
            </a:r>
            <a:endParaRPr lang="en-US" sz="16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1036" y="4588669"/>
            <a:ext cx="186031" cy="18603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383038"/>
            <a:ext cx="6296860" cy="744240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01036" y="5425877"/>
            <a:ext cx="186031" cy="18603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835106" y="4588669"/>
            <a:ext cx="5558393" cy="323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</a:pPr>
            <a:r>
              <a:rPr lang="en-US" sz="1600" kern="0" spc="-29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37 missing values only in Review Rating column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endParaRPr lang="en-US" sz="1600" dirty="0"/>
          </a:p>
        </p:txBody>
      </p:sp>
      <p:sp>
        <p:nvSpPr>
          <p:cNvPr id="22" name="Text 11"/>
          <p:cNvSpPr/>
          <p:nvPr/>
        </p:nvSpPr>
        <p:spPr>
          <a:xfrm>
            <a:off x="5307773" y="5376069"/>
            <a:ext cx="629686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kern="0" spc="-29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dataset incorporates customer demographics, purchase history, and behavioral patterns, providing a robust foundation for segmentation and strategic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6516"/>
            <a:ext cx="1062110" cy="251420"/>
          </a:xfrm>
          <a:prstGeom prst="roundRect">
            <a:avLst>
              <a:gd name="adj" fmla="val 47364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0691" y="746125"/>
            <a:ext cx="147326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39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PREPARATION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140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kern="0" spc="-65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Data Preparation Process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62629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39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 analysis, the raw dataset required a structured preparation pipeline to ensure data quality, consistency, and analytical readiness. Each step was systematically executed to preserve integrity across all 3,900 records.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2494062"/>
            <a:ext cx="3512653" cy="1746746"/>
          </a:xfrm>
          <a:prstGeom prst="roundRect">
            <a:avLst>
              <a:gd name="adj" fmla="val 8522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6769" y="2659360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Data Loading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3017044"/>
            <a:ext cx="3182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39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Imported dataset using pandas, enabling efficient data manipulation and initial structure inspection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9422" y="2494062"/>
            <a:ext cx="3512752" cy="1746746"/>
          </a:xfrm>
          <a:prstGeom prst="roundRect">
            <a:avLst>
              <a:gd name="adj" fmla="val 8522"/>
            </a:avLst>
          </a:prstGeom>
          <a:solidFill>
            <a:srgbClr val="866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04716" y="2659360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Missing Data Handling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4716" y="3017044"/>
            <a:ext cx="31821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39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Imputed Review Rating column missing values with median values to preserve statistical integrity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7468" y="2494062"/>
            <a:ext cx="3512653" cy="1746746"/>
          </a:xfrm>
          <a:prstGeom prst="roundRect">
            <a:avLst>
              <a:gd name="adj" fmla="val 8522"/>
            </a:avLst>
          </a:prstGeom>
          <a:solidFill>
            <a:srgbClr val="7479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182762" y="2659360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2762" y="3017044"/>
            <a:ext cx="31820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39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Created age groups and purchase frequency.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4612878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394485" y="4612878"/>
            <a:ext cx="19050" cy="496094"/>
          </a:xfrm>
          <a:prstGeom prst="roundRect">
            <a:avLst>
              <a:gd name="adj" fmla="val 49999"/>
            </a:avLst>
          </a:prstGeom>
          <a:solidFill>
            <a:srgbClr val="7653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17980" y="442684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279990" y="4457849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0" spc="-39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26769" y="5274469"/>
            <a:ext cx="315448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Step 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6769" y="5632152"/>
            <a:ext cx="315448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kern="0" spc="-39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loading and initial structure check with summary statistics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6224" y="4612878"/>
            <a:ext cx="19050" cy="496094"/>
          </a:xfrm>
          <a:prstGeom prst="roundRect">
            <a:avLst>
              <a:gd name="adj" fmla="val 49999"/>
            </a:avLst>
          </a:prstGeom>
          <a:solidFill>
            <a:srgbClr val="9F84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909718" y="442684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866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71728" y="4457849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0" spc="-39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518507" y="5274469"/>
            <a:ext cx="315458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Step 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18507" y="5632152"/>
            <a:ext cx="315458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kern="0" spc="-39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Missing data identification, imputation, and validation of completeness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778061" y="4612878"/>
            <a:ext cx="19050" cy="496094"/>
          </a:xfrm>
          <a:prstGeom prst="roundRect">
            <a:avLst>
              <a:gd name="adj" fmla="val 49999"/>
            </a:avLst>
          </a:prstGeom>
          <a:solidFill>
            <a:srgbClr val="8D929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601555" y="442684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7479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663565" y="4457849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0" spc="-39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3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8210345" y="5274469"/>
            <a:ext cx="315458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Step 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10345" y="5632152"/>
            <a:ext cx="315458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kern="0" spc="-39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engineering and database integration via MySQL for analysis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4804"/>
            <a:ext cx="706519" cy="247352"/>
          </a:xfrm>
          <a:prstGeom prst="roundRect">
            <a:avLst>
              <a:gd name="adj" fmla="val 47390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9104" y="543620"/>
            <a:ext cx="1120846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38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06252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64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Revenue by Gender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555254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kern="0" spc="-38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Gender-based revenue analysis reveals meaningful patterns in purchase behavior and total spend distribution. Understanding these differences enables more targeted marketing strategies and personalized customer experiences across segments.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52464"/>
            <a:ext cx="5354206" cy="197524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6492" y="2393553"/>
            <a:ext cx="244171" cy="2441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3239" y="2920107"/>
            <a:ext cx="49906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Female Customers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43239" y="3270548"/>
            <a:ext cx="499067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kern="0" spc="-38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Generate slightly higher total revenue than male customers, representing a marginally dominant share of overall purchase volume and spend across the dataset.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376" y="4393902"/>
            <a:ext cx="5354305" cy="197524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0932" y="2393553"/>
            <a:ext cx="244171" cy="24417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3239" y="5048448"/>
            <a:ext cx="49907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Male Customers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843139" y="5491063"/>
            <a:ext cx="499077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kern="0" spc="-38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Represent a near-equal share of total revenue, indicating a broadly balanced customer base with slight variation in average spend and purchase frequency.</a:t>
            </a:r>
            <a:endParaRPr lang="en-US" sz="12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6492" y="4529038"/>
            <a:ext cx="244171" cy="24417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43239" y="5055592"/>
            <a:ext cx="49906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843239" y="5406033"/>
            <a:ext cx="499067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endParaRPr lang="en-US" sz="1250" dirty="0"/>
          </a:p>
        </p:txBody>
      </p:sp>
      <p:sp>
        <p:nvSpPr>
          <p:cNvPr id="20" name="Text 10"/>
          <p:cNvSpPr/>
          <p:nvPr/>
        </p:nvSpPr>
        <p:spPr>
          <a:xfrm>
            <a:off x="6357984" y="5182741"/>
            <a:ext cx="49907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7AEAAC21-AEA7-C1BB-97F9-2041E692579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50875" y="2180333"/>
            <a:ext cx="7604284" cy="4001095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90470306-CB00-A5AD-5627-44CF3FB9B478}"/>
              </a:ext>
            </a:extLst>
          </p:cNvPr>
          <p:cNvSpPr/>
          <p:nvPr/>
        </p:nvSpPr>
        <p:spPr>
          <a:xfrm>
            <a:off x="7662863" y="621340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B0C7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5EC791-8C08-CE92-F6AE-8C1CF9C120EB}"/>
              </a:ext>
            </a:extLst>
          </p:cNvPr>
          <p:cNvSpPr txBox="1"/>
          <p:nvPr/>
        </p:nvSpPr>
        <p:spPr>
          <a:xfrm>
            <a:off x="7889677" y="6142142"/>
            <a:ext cx="96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Female</a:t>
            </a:r>
            <a:endParaRPr lang="en-IN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0B6BBE23-F9F1-71EA-1560-38B8DCC62621}"/>
              </a:ext>
            </a:extLst>
          </p:cNvPr>
          <p:cNvSpPr/>
          <p:nvPr/>
        </p:nvSpPr>
        <p:spPr>
          <a:xfrm>
            <a:off x="9310045" y="6227088"/>
            <a:ext cx="226814" cy="226814"/>
          </a:xfrm>
          <a:prstGeom prst="roundRect">
            <a:avLst>
              <a:gd name="adj" fmla="val 8063"/>
            </a:avLst>
          </a:prstGeom>
          <a:solidFill>
            <a:srgbClr val="5789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C50EB9-2AC1-9308-0512-EB9FBAE16065}"/>
              </a:ext>
            </a:extLst>
          </p:cNvPr>
          <p:cNvSpPr txBox="1"/>
          <p:nvPr/>
        </p:nvSpPr>
        <p:spPr>
          <a:xfrm>
            <a:off x="9536859" y="6122472"/>
            <a:ext cx="77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Male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18716"/>
            <a:ext cx="1708703" cy="247352"/>
          </a:xfrm>
          <a:prstGeom prst="roundRect">
            <a:avLst>
              <a:gd name="adj" fmla="val 47390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59104" y="567531"/>
            <a:ext cx="2123030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38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PERFORMANCE METRICS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830163"/>
            <a:ext cx="6296860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64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Shipping &amp; Spend Metrics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61475" y="1579166"/>
            <a:ext cx="6296860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kern="0" spc="-38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Shipping preference analysis uncovers a direct relationship between delivery choice and purchase value. Customers who opt for express shipping demonstrate consistently higher average transaction amounts, signaling a premium-oriented buyer profile.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61475" y="2616200"/>
            <a:ext cx="1965375" cy="537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00" kern="0" spc="-85" dirty="0">
                <a:solidFill>
                  <a:srgbClr val="5D3A9B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$65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61475" y="3354983"/>
            <a:ext cx="196537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Express Shipping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475" y="3705423"/>
            <a:ext cx="196537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250" kern="0" spc="-38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purchase amount for customers choosing express delivery options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827168" y="2616200"/>
            <a:ext cx="1965375" cy="537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00" kern="0" spc="-85" dirty="0">
                <a:solidFill>
                  <a:srgbClr val="5D3A9B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$58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2827168" y="3354983"/>
            <a:ext cx="196537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Standard Shipping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827168" y="3705423"/>
            <a:ext cx="196537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250" kern="0" spc="-38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purchase amount for customers opting for standard delivery methods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860" y="2616200"/>
            <a:ext cx="1965375" cy="537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00" kern="0" spc="-85" dirty="0">
                <a:solidFill>
                  <a:srgbClr val="5D3A9B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12%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4992860" y="3354983"/>
            <a:ext cx="196537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Spend Premium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92860" y="3705423"/>
            <a:ext cx="1965375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250" kern="0" spc="-38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Express shipping customers spend 12% more per transaction than standard shipping customers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1475" y="5178028"/>
            <a:ext cx="6296860" cy="1161157"/>
          </a:xfrm>
          <a:prstGeom prst="roundRect">
            <a:avLst>
              <a:gd name="adj" fmla="val 12619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190" y="5408017"/>
            <a:ext cx="203493" cy="16271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90397" y="5378946"/>
            <a:ext cx="5605223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kern="0" spc="-38" dirty="0">
                <a:solidFill>
                  <a:srgbClr val="1C1B22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Key Insight:</a:t>
            </a:r>
            <a:r>
              <a:rPr lang="en-US" sz="1250" kern="0" spc="-38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Express shipping customers represent a high-value segment. Offering exclusive express perks or bundling express options with premium products may further elevate average order value and customer satisfaction.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7552"/>
            <a:ext cx="1124319" cy="238820"/>
          </a:xfrm>
          <a:prstGeom prst="roundRect">
            <a:avLst>
              <a:gd name="adj" fmla="val 47369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5730" y="624681"/>
            <a:ext cx="1545393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SUBSCRIPTIONS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76002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kern="0" spc="-62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Subscription Impact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590774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Subscription status is a powerful predictor of customer value and loyalty. Subscribers consistently outperform non-subscribers across spend, revenue contribution, and repeat purchase frequency — making subscription growth a critical strategic lever.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48991"/>
            <a:ext cx="2717137" cy="6284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8534" y="3026668"/>
            <a:ext cx="240301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Higher Spend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8534" y="3361730"/>
            <a:ext cx="2403018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Subscribers demonstrate above-average purchase amounts compared to non-subscriber counterparts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612" y="2248991"/>
            <a:ext cx="2717236" cy="6284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35671" y="3026668"/>
            <a:ext cx="240311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Revenue Share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35671" y="3361730"/>
            <a:ext cx="2403117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Subscription customers contribute a disproportionately high share of total revenue relative to their count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8" y="2248991"/>
            <a:ext cx="2717137" cy="6284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52907" y="3026668"/>
            <a:ext cx="240301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Loyalty Rate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252907" y="3361730"/>
            <a:ext cx="2403018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Repeat purchase frequency is significantly elevated among active subscribers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2984" y="2248991"/>
            <a:ext cx="2717236" cy="6284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70044" y="3026668"/>
            <a:ext cx="240311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Retention Value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8970044" y="3361730"/>
            <a:ext cx="2403117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Cumulative lifetime value of subscribers far exceeds one-time or occasional shoppers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61475" y="4723309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Subscription Growth Drivers</a:t>
            </a:r>
            <a:endParaRPr lang="en-US" sz="15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192713"/>
            <a:ext cx="2605221" cy="108773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3782" y="5368826"/>
            <a:ext cx="217680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Exclusive subscriber discounts and early access offers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5917" y="5192713"/>
            <a:ext cx="2605320" cy="108773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68224" y="5368826"/>
            <a:ext cx="2176904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Personalized product recommendations for subscribers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0458" y="5192713"/>
            <a:ext cx="2605221" cy="108773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422765" y="5368826"/>
            <a:ext cx="217680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Subscription tier benefits driving upgrade conversion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24900" y="5192713"/>
            <a:ext cx="2605320" cy="108773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177207" y="5368826"/>
            <a:ext cx="217690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Loyalty points accumulation encouraging repeat purchases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702"/>
            <a:ext cx="1115290" cy="238820"/>
          </a:xfrm>
          <a:prstGeom prst="roundRect">
            <a:avLst>
              <a:gd name="adj" fmla="val 47369"/>
            </a:avLst>
          </a:prstGeom>
          <a:solidFill>
            <a:srgbClr val="E2DA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5730" y="516830"/>
            <a:ext cx="1536364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SEGMENTATION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68152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kern="0" spc="-62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Customer Segmentation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482923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segmentation reveals the distribution of buyers across loyalty tiers, enabling tailored retention and acquisition strategies. The largest group — first-time buyers — represents the greatest opportunity for conversion into higher-value segments.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41141"/>
            <a:ext cx="3523368" cy="246608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5290" y="2277963"/>
            <a:ext cx="235639" cy="2356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7584" y="2780705"/>
            <a:ext cx="317115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Loyal Customers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37584" y="3115766"/>
            <a:ext cx="3171150" cy="1315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15% of the customer base — high value customers with strong repeat purchase history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Priority segment for retention, premium offers, and brand advocacy programs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4064" y="2141141"/>
            <a:ext cx="3523467" cy="246608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77979" y="2277963"/>
            <a:ext cx="235639" cy="23564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10173" y="2780705"/>
            <a:ext cx="317125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Returning Customers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4510173" y="3115766"/>
            <a:ext cx="3171250" cy="1070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35% of the customer base — regular shoppers with established purchase patterns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conversion target to move into the Loyal tier through incentive programs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6753" y="2141141"/>
            <a:ext cx="3523368" cy="246608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0568" y="2277963"/>
            <a:ext cx="235639" cy="23564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182862" y="2780705"/>
            <a:ext cx="317115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New Customers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8182862" y="3115766"/>
            <a:ext cx="3171150" cy="1315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50% of the customer base — first-time buyers representing the largest growth opportunity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 on onboarding experience, early engagement, and converting to Returning status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61475" y="4831060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Conversion Priority</a:t>
            </a:r>
            <a:endParaRPr lang="en-US" sz="15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300464"/>
            <a:ext cx="2605221" cy="108773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13782" y="5476577"/>
            <a:ext cx="2176805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Convert New customers to Returning via targeted follow-up campaigns</a:t>
            </a:r>
            <a:endParaRPr lang="en-US" sz="12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5917" y="5300464"/>
            <a:ext cx="2605320" cy="108773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668224" y="5476577"/>
            <a:ext cx="2176904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Elevate Returning customers to Loyal through rewards and exclusivity</a:t>
            </a:r>
            <a:endParaRPr lang="en-US" sz="12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0458" y="5300464"/>
            <a:ext cx="2605221" cy="1087735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422765" y="5476577"/>
            <a:ext cx="2176805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Retain Loyal customers with VIP benefits and personalized engagement</a:t>
            </a:r>
            <a:endParaRPr lang="en-US" sz="12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24900" y="5300464"/>
            <a:ext cx="2605320" cy="1087735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9177207" y="5476577"/>
            <a:ext cx="2176904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1C1B2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Monitor segment migration rates to measure strategy effectiveness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126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kern="0" spc="-62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Strategic Recommendations &amp; Next Steps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19510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Findings from the 3,900-purchase dataset point to clear, high-impact opportunities. These recommendations prioritize the most actionable levers for revenue growth, customer retention, and product performance optimization.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77727"/>
            <a:ext cx="498463" cy="6230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6464" y="1977727"/>
            <a:ext cx="281357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46464" y="2312789"/>
            <a:ext cx="2813575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Promote exclusive benefits for subscribers — higher spend and loyalty rates make this the highest-ROI retention strategy identified in the analysis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565" y="1977727"/>
            <a:ext cx="498463" cy="6230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31555" y="1977727"/>
            <a:ext cx="281357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31555" y="2312789"/>
            <a:ext cx="2813575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Reward repeat buyers to increase retention and accelerate movement from New through Returning to Loyal customer tiers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1656" y="1977727"/>
            <a:ext cx="498463" cy="6230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16645" y="1977727"/>
            <a:ext cx="281357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716645" y="2312789"/>
            <a:ext cx="2813575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37" dirty="0">
                <a:solidFill>
                  <a:srgbClr val="5C606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 campaigns on high-revenue segments including express shipping users and high-value discount customers to maximize return on marketing investment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61475" y="3762474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1C1B2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Priority Action Steps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61475" y="4231878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25" dirty="0">
                <a:solidFill>
                  <a:srgbClr val="5C6065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61475" y="4479727"/>
            <a:ext cx="5359762" cy="19050"/>
          </a:xfrm>
          <a:prstGeom prst="rect">
            <a:avLst/>
          </a:prstGeom>
          <a:solidFill>
            <a:srgbClr val="5D3A9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661475" y="4596309"/>
            <a:ext cx="5359762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5C606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Highlight top-rated products (Blouse, Dress, Shirt) prominently in marketing campaigns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170458" y="4231878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25" dirty="0">
                <a:solidFill>
                  <a:srgbClr val="5C6065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0458" y="4479727"/>
            <a:ext cx="5359762" cy="19050"/>
          </a:xfrm>
          <a:prstGeom prst="rect">
            <a:avLst/>
          </a:prstGeom>
          <a:solidFill>
            <a:srgbClr val="866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6170458" y="4596309"/>
            <a:ext cx="5359762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5C606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Launch targeted subscription upsell program for high-spend non-subscriber customers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61475" y="5354439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25" dirty="0">
                <a:solidFill>
                  <a:srgbClr val="5C6065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61475" y="5602288"/>
            <a:ext cx="5359762" cy="19050"/>
          </a:xfrm>
          <a:prstGeom prst="rect">
            <a:avLst/>
          </a:prstGeom>
          <a:solidFill>
            <a:srgbClr val="5C60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661475" y="5718870"/>
            <a:ext cx="5359762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5C606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Develop express shipping incentives to increase average order value across all segments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170458" y="5354439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25" dirty="0">
                <a:solidFill>
                  <a:srgbClr val="5C6065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170458" y="5602288"/>
            <a:ext cx="5359762" cy="19050"/>
          </a:xfrm>
          <a:prstGeom prst="rect">
            <a:avLst/>
          </a:prstGeom>
          <a:solidFill>
            <a:srgbClr val="7479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6170458" y="5718870"/>
            <a:ext cx="5359762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5C606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Implement gender-segmented campaigns to leverage female customers' higher revenue contribution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36A6E7F-E692-5874-3B38-CB5E3D3FC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1010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1202DE-6B66-75E1-1000-13FE7F8FF909}"/>
              </a:ext>
            </a:extLst>
          </p:cNvPr>
          <p:cNvSpPr txBox="1"/>
          <p:nvPr/>
        </p:nvSpPr>
        <p:spPr>
          <a:xfrm>
            <a:off x="3805298" y="1727962"/>
            <a:ext cx="6526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Inter Tight" pitchFamily="2" charset="0"/>
                <a:ea typeface="Inter Tight" pitchFamily="2" charset="0"/>
                <a:cs typeface="Inter Tight" pitchFamily="2" charset="0"/>
              </a:rPr>
              <a:t>THANK YOU</a:t>
            </a:r>
            <a:endParaRPr lang="en-IN" sz="60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0A3C0-5788-D0B4-8C4A-AF7B82385AC2}"/>
              </a:ext>
            </a:extLst>
          </p:cNvPr>
          <p:cNvSpPr txBox="1"/>
          <p:nvPr/>
        </p:nvSpPr>
        <p:spPr>
          <a:xfrm>
            <a:off x="8438561" y="6086901"/>
            <a:ext cx="375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Sameer Shukoor Shaikh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0404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862</Words>
  <Application>Microsoft Office PowerPoint</Application>
  <PresentationFormat>Widescreen</PresentationFormat>
  <Paragraphs>111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Inter Tight SemiBold</vt:lpstr>
      <vt:lpstr>Instrument Sans Bold</vt:lpstr>
      <vt:lpstr>Instrument Sans Medium</vt:lpstr>
      <vt:lpstr>Inter Tight Light</vt:lpstr>
      <vt:lpstr>Inter Tight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SAMEER</dc:creator>
  <cp:lastModifiedBy>Sameer Shaikh</cp:lastModifiedBy>
  <cp:revision>3</cp:revision>
  <dcterms:created xsi:type="dcterms:W3CDTF">2026-08-18T15:08:04Z</dcterms:created>
  <dcterms:modified xsi:type="dcterms:W3CDTF">2026-08-18T15:35:12Z</dcterms:modified>
</cp:coreProperties>
</file>